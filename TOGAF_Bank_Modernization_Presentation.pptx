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TOGAF in Action: Modernizing the Bank’s Core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Applying the Architecture Development Method (ADM)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Context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The bank aims to modernize legacy core systems.</a:t>
            </a:r>
          </a:p>
          <a:p>
            <a:pPr>
              <a:spcAft>
                <a:spcPts val="1000"/>
              </a:spcAft>
              <a:defRPr sz="2000"/>
            </a:pPr>
            <a:r>
              <a:t>Drivers: agility, cost reduction, compliance, and better customer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TOGAF 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TOGAF provides structure for developing and governing enterprise architectures.</a:t>
            </a:r>
          </a:p>
          <a:p>
            <a:pPr>
              <a:spcAft>
                <a:spcPts val="1000"/>
              </a:spcAft>
              <a:defRPr sz="2000"/>
            </a:pPr>
            <a:r>
              <a:t>Key Components: ADM, Content Framework, Repository, Capability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Project Scope &amp; Vision (Phase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Define transformation goals and KPIs.</a:t>
            </a:r>
          </a:p>
          <a:p>
            <a:pPr>
              <a:spcAft>
                <a:spcPts val="1000"/>
              </a:spcAft>
              <a:defRPr sz="2000"/>
            </a:pPr>
            <a:r>
              <a:t>Align IT strategy with business strategy.</a:t>
            </a:r>
          </a:p>
          <a:p>
            <a:pPr>
              <a:spcAft>
                <a:spcPts val="1000"/>
              </a:spcAft>
              <a:defRPr sz="2000"/>
            </a:pPr>
            <a:r>
              <a:t>Produce Architecture Vision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Business Architecture (Phase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Model business capabilities: Customer 360°, Loan Origination, Payments.</a:t>
            </a:r>
          </a:p>
          <a:p>
            <a:pPr>
              <a:spcAft>
                <a:spcPts val="1000"/>
              </a:spcAft>
              <a:defRPr sz="2000"/>
            </a:pPr>
            <a:r>
              <a:t>Identify process pain points and areas for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Information Systems Architecture (Phase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Assess current data and application architectures.</a:t>
            </a:r>
          </a:p>
          <a:p>
            <a:pPr>
              <a:spcAft>
                <a:spcPts val="1000"/>
              </a:spcAft>
              <a:defRPr sz="2000"/>
            </a:pPr>
            <a:r>
              <a:t>Design future-state integrations and data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Technology Architecture (Phase 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Transition from legacy mainframe to cloud-native core.</a:t>
            </a:r>
          </a:p>
          <a:p>
            <a:pPr>
              <a:spcAft>
                <a:spcPts val="1000"/>
              </a:spcAft>
              <a:defRPr sz="2000"/>
            </a:pPr>
            <a:r>
              <a:t>Adopt API-first and event-driven architectures.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Opportunities &amp; Solutions (Phase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Evaluate modernization options: replatform, replace, wrap.</a:t>
            </a:r>
          </a:p>
          <a:p>
            <a:pPr>
              <a:spcAft>
                <a:spcPts val="1000"/>
              </a:spcAft>
              <a:defRPr sz="2000"/>
            </a:pPr>
            <a:r>
              <a:t>Develop transition architectures and solution options.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Migration Planning (Phase 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Define 3-phase roadmap (short, medium, long-term).</a:t>
            </a:r>
          </a:p>
          <a:p>
            <a:pPr>
              <a:spcAft>
                <a:spcPts val="1000"/>
              </a:spcAft>
              <a:defRPr sz="2000"/>
            </a:pPr>
            <a:r>
              <a:t>Prioritize work packages and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Implementation Governance (Phase 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Set governance checkpoints and review boards.</a:t>
            </a:r>
          </a:p>
          <a:p>
            <a:pPr>
              <a:spcAft>
                <a:spcPts val="1000"/>
              </a:spcAft>
              <a:defRPr sz="2000"/>
            </a:pPr>
            <a:r>
              <a:t>Track architecture compliance and design traceability.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Change Management (Phase 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Enable continuous improvement and architecture updates.</a:t>
            </a:r>
          </a:p>
          <a:p>
            <a:pPr>
              <a:spcAft>
                <a:spcPts val="1000"/>
              </a:spcAft>
              <a:defRPr sz="2000"/>
            </a:pPr>
            <a:r>
              <a:t>Establish feedback loops from implementation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Architecture Governance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Governance Structure: CIO, Chief Architect, Domain Leads.</a:t>
            </a:r>
          </a:p>
          <a:p>
            <a:pPr>
              <a:spcAft>
                <a:spcPts val="1000"/>
              </a:spcAft>
              <a:defRPr sz="2000"/>
            </a:pPr>
            <a:r>
              <a:t>Regular architecture board reviews and decision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Key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Architecture Vision Document, Roadmap, Standards Catalog, Reference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Tools &amp;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EA Tools: ArchiMate, LeanIX, ServiceNow APM.</a:t>
            </a:r>
          </a:p>
          <a:p>
            <a:pPr>
              <a:spcAft>
                <a:spcPts val="1000"/>
              </a:spcAft>
              <a:defRPr sz="2000"/>
            </a:pPr>
            <a:r>
              <a:t>Integration with Agile, DevOps, and cloud frameworks.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Benefits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Measure outcomes: system agility, cost efficiency, customer satisfaction.</a:t>
            </a:r>
          </a:p>
          <a:p>
            <a:pPr>
              <a:spcAft>
                <a:spcPts val="1000"/>
              </a:spcAft>
              <a:defRPr sz="2000"/>
            </a:pPr>
            <a:r>
              <a:t>Ensure business-IT alignment.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Common challenges: cultural resistance, unclear ownership, incomplete data.</a:t>
            </a:r>
          </a:p>
          <a:p>
            <a:pPr>
              <a:spcAft>
                <a:spcPts val="1000"/>
              </a:spcAft>
              <a:defRPr sz="2000"/>
            </a:pPr>
            <a:r>
              <a:t>Mitigation: strong governance, stakeholder engagement, iterative delivery.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Institutionalize architecture governance.</a:t>
            </a:r>
          </a:p>
          <a:p>
            <a:pPr>
              <a:spcAft>
                <a:spcPts val="1000"/>
              </a:spcAft>
              <a:defRPr sz="2000"/>
            </a:pPr>
            <a:r>
              <a:t>Expand TOGAF practice across enterprise units.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TOGAF ADM provides structure, governance, and agility.</a:t>
            </a:r>
          </a:p>
          <a:p>
            <a:pPr>
              <a:spcAft>
                <a:spcPts val="1000"/>
              </a:spcAft>
              <a:defRPr sz="2000"/>
            </a:pPr>
            <a:r>
              <a:t>Helps banks align modernization with strategic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